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010400" cy="9296400"/>
  <p:embeddedFontLs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66">
          <p15:clr>
            <a:srgbClr val="A4A3A4"/>
          </p15:clr>
        </p15:guide>
        <p15:guide id="2" pos="414">
          <p15:clr>
            <a:srgbClr val="A4A3A4"/>
          </p15:clr>
        </p15:guide>
      </p15:sldGuideLst>
    </p:ext>
    <p:ext uri="{2D200454-40CA-4A62-9FC3-DE9A4176ACB9}">
      <p15:notesGuideLst>
        <p15:guide id="1" orient="horz" pos="3324">
          <p15:clr>
            <a:srgbClr val="A4A3A4"/>
          </p15:clr>
        </p15:guide>
        <p15:guide id="2" pos="234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66" orient="horz"/>
        <p:guide pos="41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324" orient="horz"/>
        <p:guide pos="234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italic.fntdata"/><Relationship Id="rId16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300" spcFirstLastPara="1" rIns="1930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2560" y="1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300" spcFirstLastPara="1" rIns="1930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1" type="ftr"/>
          </p:nvPr>
        </p:nvSpPr>
        <p:spPr>
          <a:xfrm>
            <a:off x="0" y="8985880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00" spcFirstLastPara="1" rIns="1930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spcBef>
                <a:spcPts val="108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2" type="sldNum"/>
          </p:nvPr>
        </p:nvSpPr>
        <p:spPr>
          <a:xfrm>
            <a:off x="3972560" y="8985880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00" spcFirstLastPara="1" rIns="193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>
            <p:ph idx="3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89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89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9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9" name="Google Shape;9;n"/>
          <p:cNvCxnSpPr/>
          <p:nvPr/>
        </p:nvCxnSpPr>
        <p:spPr>
          <a:xfrm>
            <a:off x="467360" y="8985880"/>
            <a:ext cx="6309360" cy="0"/>
          </a:xfrm>
          <a:prstGeom prst="straightConnector1">
            <a:avLst/>
          </a:prstGeom>
          <a:noFill/>
          <a:ln cap="flat" cmpd="sng" w="12700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9050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972560" y="8985880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00" spcFirstLastPara="1" rIns="193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9050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972560" y="8985880"/>
            <a:ext cx="3037840" cy="310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00" spcFirstLastPara="1" rIns="193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1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481966" y="3734247"/>
            <a:ext cx="6515452" cy="49587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20"/>
              </a:spcBef>
              <a:spcAft>
                <a:spcPts val="42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/>
          <p:nvPr>
            <p:ph idx="2" type="sldImg"/>
          </p:nvPr>
        </p:nvSpPr>
        <p:spPr>
          <a:xfrm>
            <a:off x="1187450" y="15875"/>
            <a:ext cx="4630738" cy="3473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45D4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  <a:defRPr>
                <a:solidFill>
                  <a:srgbClr val="363C53"/>
                </a:solidFill>
              </a:defRPr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Clr>
                <a:srgbClr val="945D4A"/>
              </a:buClr>
              <a:buSzPts val="2160"/>
              <a:buFont typeface="Noto Sans Symbols"/>
              <a:buChar char="⮲"/>
              <a:defRPr sz="2400">
                <a:solidFill>
                  <a:srgbClr val="363C53"/>
                </a:solidFill>
              </a:defRPr>
            </a:lvl2pPr>
            <a:lvl3pPr indent="-314960" lvl="2" marL="1371600" algn="l">
              <a:spcBef>
                <a:spcPts val="320"/>
              </a:spcBef>
              <a:spcAft>
                <a:spcPts val="0"/>
              </a:spcAft>
              <a:buClr>
                <a:srgbClr val="F6C120"/>
              </a:buClr>
              <a:buSzPts val="1360"/>
              <a:buFont typeface="Noto Sans Symbols"/>
              <a:buChar char="⮊"/>
              <a:defRPr>
                <a:solidFill>
                  <a:srgbClr val="363C53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363C53"/>
              </a:buClr>
              <a:buSzPts val="2000"/>
              <a:buFont typeface="Century Gothic"/>
              <a:buChar char="•"/>
              <a:defRPr>
                <a:solidFill>
                  <a:srgbClr val="363C53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363C53"/>
              </a:buClr>
              <a:buSzPts val="1600"/>
              <a:buFont typeface="Century Gothic"/>
              <a:buChar char="•"/>
              <a:defRPr>
                <a:solidFill>
                  <a:srgbClr val="363C53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41288" y="6400800"/>
            <a:ext cx="184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958850" y="704850"/>
            <a:ext cx="76708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rgbClr val="363C5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525A7D"/>
              </a:buClr>
              <a:buSzPts val="2800"/>
              <a:buFont typeface="Century Gothic"/>
              <a:buNone/>
              <a:defRPr>
                <a:solidFill>
                  <a:srgbClr val="525A7D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⮲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530"/>
              <a:buChar char="⮊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3E5D78"/>
              </a:buClr>
              <a:buSzPts val="2000"/>
              <a:buFont typeface="Century Gothic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3E5D78"/>
              </a:buClr>
              <a:buSzPts val="1400"/>
              <a:buFont typeface="Century Gothic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3E5D78"/>
              </a:buClr>
              <a:buSzPts val="1400"/>
              <a:buFont typeface="Century Gothic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4097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E5D78"/>
              </a:buClr>
              <a:buSzPts val="2800"/>
              <a:buFont typeface="Century Gothic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⮲"/>
              <a:defRPr sz="24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SzPts val="1700"/>
              <a:buChar char="⮊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Font typeface="Century Gothic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Font typeface="Century Gothic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4097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E5D78"/>
              </a:buClr>
              <a:buSzPts val="2800"/>
              <a:buFont typeface="Century Gothic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⮲"/>
              <a:defRPr sz="24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SzPts val="1700"/>
              <a:buChar char="⮊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Font typeface="Century Gothic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Font typeface="Century Gothic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3E5D78"/>
              </a:buClr>
              <a:buSzPts val="2400"/>
              <a:buFont typeface="Century Gothic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3E5D78"/>
              </a:buClr>
              <a:buSzPts val="2400"/>
              <a:buFont typeface="Century Gothic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⮲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⮊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3E5D78"/>
              </a:buClr>
              <a:buSzPts val="2400"/>
              <a:buFont typeface="Century Gothic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3E5D78"/>
              </a:buClr>
              <a:buSzPts val="2400"/>
              <a:buFont typeface="Century Gothic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⮲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⮊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3E5D78"/>
              </a:buClr>
              <a:buSzPts val="3200"/>
              <a:buFont typeface="Century Gothic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⮲"/>
              <a:defRPr sz="2800"/>
            </a:lvl2pPr>
            <a:lvl3pPr indent="-358139" lvl="2" marL="1371600" algn="l">
              <a:spcBef>
                <a:spcPts val="480"/>
              </a:spcBef>
              <a:spcAft>
                <a:spcPts val="0"/>
              </a:spcAft>
              <a:buSzPts val="2040"/>
              <a:buChar char="⮊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3E5D78"/>
              </a:buClr>
              <a:buSzPts val="2000"/>
              <a:buFont typeface="Century Gothic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3E5D78"/>
              </a:buClr>
              <a:buSzPts val="2000"/>
              <a:buFont typeface="Century Gothic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Char char="•"/>
              <a:defRPr sz="20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E5D78"/>
              </a:buClr>
              <a:buSzPts val="1400"/>
              <a:buFont typeface="Century Gothic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E5D78"/>
              </a:buClr>
              <a:buSzPts val="900"/>
              <a:buFont typeface="Century Gothic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E5D78"/>
              </a:buClr>
              <a:buSzPts val="900"/>
              <a:buFont typeface="Century Gothic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E5D78"/>
              </a:buClr>
              <a:buSzPts val="1400"/>
              <a:buFont typeface="Century Gothic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E5D78"/>
              </a:buClr>
              <a:buSzPts val="900"/>
              <a:buFont typeface="Century Gothic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E5D78"/>
              </a:buClr>
              <a:buSzPts val="900"/>
              <a:buFont typeface="Century Gothic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 rot="5400000">
            <a:off x="2309019" y="-4421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⮲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⮊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 rot="5400000">
            <a:off x="4792663" y="2022476"/>
            <a:ext cx="5764213" cy="206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 rot="5400000">
            <a:off x="592137" y="36513"/>
            <a:ext cx="5764213" cy="603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⮲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SzPts val="1530"/>
              <a:buChar char="⮊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E5D78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41288" y="6400800"/>
            <a:ext cx="184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958850" y="704850"/>
            <a:ext cx="76708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1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55E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55E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55E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55E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955E4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66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66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66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66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3E5D78"/>
              </a:buClr>
              <a:buSzPts val="2800"/>
              <a:buFont typeface="Century Gothic"/>
              <a:buChar char="•"/>
              <a:defRPr b="0" i="0" sz="2800" u="none" cap="none" strike="noStrike">
                <a:solidFill>
                  <a:srgbClr val="3E5D7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633F32"/>
              </a:buClr>
              <a:buSzPts val="2400"/>
              <a:buFont typeface="Noto Sans Symbols"/>
              <a:buChar char="⮲"/>
              <a:defRPr b="0" i="0" sz="2400" u="none" cap="none" strike="noStrike">
                <a:solidFill>
                  <a:srgbClr val="3E5D7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496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F7C120"/>
              </a:buClr>
              <a:buSzPts val="1360"/>
              <a:buFont typeface="Noto Sans Symbols"/>
              <a:buChar char="⮊"/>
              <a:defRPr b="0" i="0" sz="1600" u="none" cap="none" strike="noStrike">
                <a:solidFill>
                  <a:srgbClr val="3E5D7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3E5D78"/>
              </a:buClr>
              <a:buSzPts val="2000"/>
              <a:buFont typeface="Century Gothic"/>
              <a:buChar char="•"/>
              <a:defRPr b="0" i="0" sz="2000" u="none" cap="none" strike="noStrike">
                <a:solidFill>
                  <a:srgbClr val="3E5D7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3E5D78"/>
              </a:buClr>
              <a:buSzPts val="1600"/>
              <a:buFont typeface="Century Gothic"/>
              <a:buChar char="•"/>
              <a:defRPr b="0" i="0" sz="1600" u="none" cap="none" strike="noStrike">
                <a:solidFill>
                  <a:srgbClr val="3E5D7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rporatefinanceinstitute.com/resources/knowledge/valuation/net-present-value-npv/" TargetMode="External"/><Relationship Id="rId4" Type="http://schemas.openxmlformats.org/officeDocument/2006/relationships/hyperlink" Target="https://www.thebalancesmb.com/net-present-value-npv-as-a-capital-budgeting-method-392915" TargetMode="External"/><Relationship Id="rId5" Type="http://schemas.openxmlformats.org/officeDocument/2006/relationships/hyperlink" Target="https://www.investopedia.com/terms/n/npv.a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952105" y="72723"/>
            <a:ext cx="7680907" cy="598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55E4B"/>
                </a:solidFill>
              </a:rPr>
              <a:t>HW#2 – Develop a Business Case</a:t>
            </a:r>
            <a:endParaRPr/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801278" y="806825"/>
            <a:ext cx="7927943" cy="56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373D54"/>
                </a:solidFill>
              </a:rPr>
              <a:t>Develop a Business Case for a project you’d like to propose based on your experience as a USC student.  It could be related to the application process, student life, academic experience, etc.  </a:t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373D54"/>
                </a:solidFill>
              </a:rPr>
              <a:t>Projects usually try to solve a problem you are encountering… you can use this to determine the nature of your project.  </a:t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373D54"/>
                </a:solidFill>
              </a:rPr>
              <a:t>The project can be an app, a system, a process improvement, etc.  </a:t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373D54"/>
                </a:solidFill>
              </a:rPr>
              <a:t>The Business Case for your project should include the following items: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lang="en-US" sz="1800">
                <a:solidFill>
                  <a:srgbClr val="373D54"/>
                </a:solidFill>
              </a:rPr>
              <a:t>(VD: formatting doesn’t play a role – formatting is the last thing to check, keep things standard)</a:t>
            </a:r>
            <a:endParaRPr sz="1800">
              <a:solidFill>
                <a:srgbClr val="373D54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rgbClr val="373D54"/>
                </a:solidFill>
              </a:rPr>
              <a:t>Charter Statement (Sami, Diya, Guozheng) (VD: des short, scope at least 2-3 points – should be accurate; project must relavent and realistic; you should touch up on the 'Why?' Good number of requirements)</a:t>
            </a:r>
            <a:endParaRPr/>
          </a:p>
          <a:p>
            <a:pPr indent="-457200" lvl="1" marL="914400" rtl="0" algn="l">
              <a:spcBef>
                <a:spcPts val="320"/>
              </a:spcBef>
              <a:spcAft>
                <a:spcPts val="0"/>
              </a:spcAft>
              <a:buSzPts val="1440"/>
              <a:buChar char="⮲"/>
            </a:pPr>
            <a:r>
              <a:rPr lang="en-US" sz="1600">
                <a:solidFill>
                  <a:srgbClr val="373D54"/>
                </a:solidFill>
              </a:rPr>
              <a:t>Description, Scope, High Level Requirements, Alternatives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rgbClr val="373D54"/>
                </a:solidFill>
              </a:rPr>
              <a:t>Project Justification (Diya, Guozheng) (VD: explain context- mention in detail e.g. how is it going to help students?)</a:t>
            </a:r>
            <a:endParaRPr sz="1800">
              <a:solidFill>
                <a:srgbClr val="373D54"/>
              </a:solidFill>
            </a:endParaRPr>
          </a:p>
          <a:p>
            <a:pPr indent="-457200" lvl="1" marL="914400" rtl="0" algn="l">
              <a:spcBef>
                <a:spcPts val="320"/>
              </a:spcBef>
              <a:spcAft>
                <a:spcPts val="0"/>
              </a:spcAft>
              <a:buSzPts val="1440"/>
              <a:buChar char="⮲"/>
            </a:pPr>
            <a:r>
              <a:rPr lang="en-US" sz="1600">
                <a:solidFill>
                  <a:srgbClr val="373D54"/>
                </a:solidFill>
              </a:rPr>
              <a:t>Both tangible and intangible benefits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rgbClr val="373D54"/>
                </a:solidFill>
              </a:rPr>
              <a:t>Financial Analysis (Sami, Rhythm, Mihir)</a:t>
            </a:r>
            <a:endParaRPr/>
          </a:p>
          <a:p>
            <a:pPr indent="-457200" lvl="1" marL="914400" rtl="0" algn="l">
              <a:spcBef>
                <a:spcPts val="320"/>
              </a:spcBef>
              <a:spcAft>
                <a:spcPts val="0"/>
              </a:spcAft>
              <a:buSzPts val="1440"/>
              <a:buChar char="⮲"/>
            </a:pPr>
            <a:r>
              <a:rPr lang="en-US" sz="1600">
                <a:solidFill>
                  <a:srgbClr val="373D54"/>
                </a:solidFill>
              </a:rPr>
              <a:t>Costs, Benefits, NPV Analysis</a:t>
            </a:r>
            <a:endParaRPr/>
          </a:p>
          <a:p>
            <a:pPr indent="-457200" lvl="1" marL="914400" rtl="0" algn="l">
              <a:spcBef>
                <a:spcPts val="320"/>
              </a:spcBef>
              <a:spcAft>
                <a:spcPts val="0"/>
              </a:spcAft>
              <a:buSzPts val="1440"/>
              <a:buChar char="⮲"/>
            </a:pPr>
            <a:r>
              <a:rPr lang="en-US" sz="1600">
                <a:solidFill>
                  <a:srgbClr val="373D54"/>
                </a:solidFill>
              </a:rPr>
              <a:t>Cost of Capital (discount rate) = 10%; 5-Year Period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rgbClr val="373D54"/>
                </a:solidFill>
              </a:rPr>
              <a:t>Project Schedule (Rhythm)</a:t>
            </a:r>
            <a:endParaRPr/>
          </a:p>
          <a:p>
            <a:pPr indent="-457200" lvl="1" marL="914400" rtl="0" algn="l">
              <a:spcBef>
                <a:spcPts val="320"/>
              </a:spcBef>
              <a:spcAft>
                <a:spcPts val="0"/>
              </a:spcAft>
              <a:buSzPts val="1440"/>
              <a:buChar char="⮲"/>
            </a:pPr>
            <a:r>
              <a:rPr lang="en-US" sz="1600">
                <a:solidFill>
                  <a:srgbClr val="373D54"/>
                </a:solidFill>
              </a:rPr>
              <a:t>High level tasks and timing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eriod"/>
            </a:pPr>
            <a:r>
              <a:rPr lang="en-US" sz="1800">
                <a:solidFill>
                  <a:srgbClr val="373D54"/>
                </a:solidFill>
              </a:rPr>
              <a:t>Risks, Assumptions, Critical Success Factors, Dependencies (Mihir)</a:t>
            </a:r>
            <a:endParaRPr sz="1600">
              <a:solidFill>
                <a:srgbClr val="373D54"/>
              </a:solidFill>
            </a:endParaRPr>
          </a:p>
          <a:p>
            <a:pPr indent="0" lvl="1" marL="457200" rtl="0" algn="l">
              <a:spcBef>
                <a:spcPts val="32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600">
              <a:solidFill>
                <a:srgbClr val="373D5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933253" y="72723"/>
            <a:ext cx="7699759" cy="598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55E4B"/>
                </a:solidFill>
              </a:rPr>
              <a:t>Assignment 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933253" y="806825"/>
            <a:ext cx="8010722" cy="56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6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b="1" lang="en-US" sz="1800">
                <a:solidFill>
                  <a:srgbClr val="373D54"/>
                </a:solidFill>
              </a:rPr>
              <a:t>Deliverables:</a:t>
            </a:r>
            <a:endParaRPr/>
          </a:p>
          <a:p>
            <a:pPr indent="-228600" lvl="0" marL="2286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arenR"/>
            </a:pPr>
            <a:r>
              <a:rPr lang="en-US" sz="1800">
                <a:solidFill>
                  <a:srgbClr val="373D54"/>
                </a:solidFill>
              </a:rPr>
              <a:t>Word/PDF/PPT document of business case </a:t>
            </a:r>
            <a:endParaRPr/>
          </a:p>
          <a:p>
            <a:pPr indent="-228600" lvl="0" marL="2286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arenR"/>
            </a:pPr>
            <a:r>
              <a:rPr lang="en-US" sz="1800">
                <a:solidFill>
                  <a:srgbClr val="373D54"/>
                </a:solidFill>
              </a:rPr>
              <a:t>XLS Spreadsheet of Financials</a:t>
            </a:r>
            <a:endParaRPr/>
          </a:p>
          <a:p>
            <a:pPr indent="-228600" lvl="0" marL="22860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AutoNum type="arabicParenR"/>
            </a:pPr>
            <a:r>
              <a:rPr lang="en-US" sz="1800">
                <a:solidFill>
                  <a:srgbClr val="373D54"/>
                </a:solidFill>
              </a:rPr>
              <a:t>You can use MS Project or Excel for hi-level project schedule</a:t>
            </a:r>
            <a:endParaRPr/>
          </a:p>
          <a:p>
            <a:pPr indent="-114300" lvl="0" marL="228600" rtl="0" algn="l">
              <a:spcBef>
                <a:spcPts val="360"/>
              </a:spcBef>
              <a:spcAft>
                <a:spcPts val="0"/>
              </a:spcAft>
              <a:buClr>
                <a:srgbClr val="363C53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b="1" lang="en-US" sz="1800">
                <a:solidFill>
                  <a:srgbClr val="373D54"/>
                </a:solidFill>
              </a:rPr>
              <a:t>This is an Assignment with your Team:</a:t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63C53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73D54"/>
              </a:buClr>
              <a:buSzPts val="1800"/>
              <a:buFont typeface="Century Gothic"/>
              <a:buNone/>
            </a:pPr>
            <a:r>
              <a:rPr b="1" lang="en-US" sz="1800">
                <a:solidFill>
                  <a:srgbClr val="373D54"/>
                </a:solidFill>
              </a:rPr>
              <a:t>NPV Analysis References:</a:t>
            </a:r>
            <a:endParaRPr sz="1800">
              <a:solidFill>
                <a:srgbClr val="373D54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63C53"/>
              </a:buClr>
              <a:buSzPts val="1800"/>
              <a:buFont typeface="Century Gothic"/>
              <a:buNone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Link 1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63C53"/>
              </a:buClr>
              <a:buSzPts val="1800"/>
              <a:buFont typeface="Century Gothic"/>
              <a:buNone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Link 2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363C53"/>
              </a:buClr>
              <a:buSzPts val="1800"/>
              <a:buFont typeface="Century Gothic"/>
              <a:buNone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Link 3</a:t>
            </a:r>
            <a:endParaRPr sz="1800">
              <a:solidFill>
                <a:srgbClr val="373D5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Platform – iMessage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Recurring – </a:t>
            </a:r>
            <a:endParaRPr/>
          </a:p>
          <a:p>
            <a:pPr indent="-457200" lvl="1" marL="914400" rtl="0" algn="l">
              <a:spcBef>
                <a:spcPts val="480"/>
              </a:spcBef>
              <a:spcAft>
                <a:spcPts val="0"/>
              </a:spcAft>
              <a:buSzPts val="2160"/>
              <a:buChar char="⮲"/>
            </a:pPr>
            <a:r>
              <a:rPr lang="en-US"/>
              <a:t>Frequency – weekly 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Mihir – [Except mon - wed]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Diya – [Preferably Wednesday or weekend]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Guozheng – [except Tuesday and thursday]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Rhythm – [aprt from tuesday and thursday]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Sami – [except Tuesday and Mondays]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In person – after class on Tuesday, team building (weekend)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160"/>
              <a:buNone/>
            </a:pPr>
            <a:r>
              <a:rPr lang="en-US"/>
              <a:t>Floating meeting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Ideas – on the group chat – (RD: not too professional so that we keep it lively)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Ideas for Team building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Ideas for business case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Housing Rating System (SA) - Bad Landlords. They know students don’t have power. A pltform which empowers students and communicate hows their landlord. Have  universities rate off campus housing. (Just like Rate my professor $3.4M per year)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Schedule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Financial NPV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Revenue model – from the University and the housing agency, subscription models.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76250" y="171450"/>
            <a:ext cx="8229600" cy="59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VD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457200" y="14097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63C53"/>
              </a:buClr>
              <a:buSzPts val="2800"/>
              <a:buFont typeface="Century Gothic"/>
              <a:buChar char="•"/>
            </a:pPr>
            <a:r>
              <a:rPr lang="en-US"/>
              <a:t>Refer the notes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